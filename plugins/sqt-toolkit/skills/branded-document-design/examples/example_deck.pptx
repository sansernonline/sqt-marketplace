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4C86"/>
                </a:solidFill>
                <a:latin typeface="Tahoma"/>
              </a:rPr>
              <a:t>Apps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333B4A"/>
                </a:solidFill>
                <a:latin typeface="Tahoma"/>
              </a:rPr>
              <a:t>Project Control &amp;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</a:rPr>
              <a:t>รายงานความคืบหน้า · 19 กรกฎาคม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A5CD6"/>
                </a:solidFill>
                <a:latin typeface="Tahoma"/>
              </a:rPr>
              <a:t>ส่วนที่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175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A4C86"/>
                </a:solidFill>
                <a:latin typeface="Tahoma"/>
              </a:rPr>
              <a:t>1 · ภาพรวมระบบ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A78D6"/>
                </a:solidFill>
                <a:latin typeface="Tahoma"/>
              </a:rPr>
              <a:t>ขอบเขตงาน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</a:rPr>
              <a:t>สรุปจากเอกสารข้อกำหนดเวอร์ชัน 3.5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35608"/>
            <a:ext cx="1051560" cy="41148"/>
          </a:xfrm>
          <a:prstGeom prst="rect">
            <a:avLst/>
          </a:prstGeom>
          <a:solidFill>
            <a:srgbClr val="6A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</a:rPr>
              <a:t>•  โครงการและ Work items ตามขั้นตอน SDLC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</a:rPr>
              <a:t>•  Sprint / Kanban board และปฏิทินทีม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</a:rPr>
              <a:t>•  Timesheet, Workload และรายงานสรุปผู้บริหาร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A78D6"/>
                </a:solidFill>
                <a:latin typeface="Tahoma"/>
              </a:rPr>
              <a:t>ตัวเลขสำคัญ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6A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2464993" cy="1737360"/>
          </a:xfrm>
          <a:prstGeom prst="rect">
            <a:avLst/>
          </a:prstGeom>
          <a:solidFill>
            <a:srgbClr val="ED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Tahoma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</a:rPr>
              <a:t>โครงการ</a:t>
            </a:r>
          </a:p>
        </p:txBody>
      </p:sp>
      <p:sp>
        <p:nvSpPr>
          <p:cNvPr id="8" name="Rectangle 7"/>
          <p:cNvSpPr/>
          <p:nvPr/>
        </p:nvSpPr>
        <p:spPr>
          <a:xfrm>
            <a:off x="3516553" y="1508760"/>
            <a:ext cx="2464993" cy="1737360"/>
          </a:xfrm>
          <a:prstGeom prst="rect">
            <a:avLst/>
          </a:prstGeom>
          <a:solidFill>
            <a:srgbClr val="ED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6553" y="178308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Tahoma"/>
              </a:rPr>
              <a:t>115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6553" y="265176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</a:rPr>
              <a:t>Work items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0146" y="1508760"/>
            <a:ext cx="2464993" cy="1737360"/>
          </a:xfrm>
          <a:prstGeom prst="rect">
            <a:avLst/>
          </a:prstGeom>
          <a:solidFill>
            <a:srgbClr val="ED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0146" y="178308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Tahoma"/>
              </a:rPr>
              <a:t>103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6" y="265176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</a:rPr>
              <a:t>Open tasks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3739" y="1508760"/>
            <a:ext cx="2464993" cy="1737360"/>
          </a:xfrm>
          <a:prstGeom prst="rect">
            <a:avLst/>
          </a:prstGeom>
          <a:solidFill>
            <a:srgbClr val="ED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03739" y="178308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Tahoma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3739" y="265176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</a:rPr>
              <a:t>ผู้ใช้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A78D6"/>
                </a:solidFill>
                <a:latin typeface="Tahoma"/>
              </a:rPr>
              <a:t>สถานะ Milestone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6A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63040"/>
          <a:ext cx="10545773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752"/>
                <a:gridCol w="4687011"/>
                <a:gridCol w="2343505"/>
                <a:gridCol w="2343505"/>
              </a:tblGrid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2A4C86"/>
                          </a:solidFill>
                          <a:latin typeface="Tahoma"/>
                        </a:rPr>
                        <a:t>รหัส</a:t>
                      </a:r>
                    </a:p>
                  </a:txBody>
                  <a:tcPr marL="109728" marR="109728">
                    <a:solidFill>
                      <a:srgbClr val="EDF1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2A4C86"/>
                          </a:solidFill>
                          <a:latin typeface="Tahoma"/>
                        </a:rPr>
                        <a:t>รายการ</a:t>
                      </a:r>
                    </a:p>
                  </a:txBody>
                  <a:tcPr marL="109728" marR="109728">
                    <a:solidFill>
                      <a:srgbClr val="EDF1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2A4C86"/>
                          </a:solidFill>
                          <a:latin typeface="Tahoma"/>
                        </a:rPr>
                        <a:t>ผู้รับผิดชอบ</a:t>
                      </a:r>
                    </a:p>
                  </a:txBody>
                  <a:tcPr marL="109728" marR="109728">
                    <a:solidFill>
                      <a:srgbClr val="EDF1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2A4C86"/>
                          </a:solidFill>
                          <a:latin typeface="Tahoma"/>
                        </a:rPr>
                        <a:t>สถานะ</a:t>
                      </a:r>
                    </a:p>
                  </a:txBody>
                  <a:tcPr marL="109728" marR="109728">
                    <a:solidFill>
                      <a:srgbClr val="ED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414957"/>
                          </a:solidFill>
                          <a:latin typeface="Tahoma"/>
                        </a:rPr>
                        <a:t>M-01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414957"/>
                          </a:solidFill>
                          <a:latin typeface="Tahoma"/>
                        </a:rPr>
                        <a:t>ออกแบบฐานข้อมูลและ Domain model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414957"/>
                          </a:solidFill>
                          <a:latin typeface="Tahoma"/>
                        </a:rPr>
                        <a:t>SA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7794A"/>
                          </a:solidFill>
                          <a:latin typeface="Tahoma"/>
                        </a:rPr>
                        <a:t>เสร็จ</a:t>
                      </a:r>
                    </a:p>
                  </a:txBody>
                  <a:tcPr marL="109728" marR="109728">
                    <a:solidFill>
                      <a:srgbClr val="E9F7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414957"/>
                          </a:solidFill>
                          <a:latin typeface="Tahoma"/>
                        </a:rPr>
                        <a:t>M-02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414957"/>
                          </a:solidFill>
                          <a:latin typeface="Tahoma"/>
                        </a:rPr>
                        <a:t>ระบบยืนยันตัวตนและ RBAC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414957"/>
                          </a:solidFill>
                          <a:latin typeface="Tahoma"/>
                        </a:rPr>
                        <a:t>Dev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96660D"/>
                          </a:solidFill>
                          <a:latin typeface="Tahoma"/>
                        </a:rPr>
                        <a:t>กำลังทำ</a:t>
                      </a:r>
                    </a:p>
                  </a:txBody>
                  <a:tcPr marL="109728" marR="109728">
                    <a:solidFill>
                      <a:srgbClr val="FDF5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414957"/>
                          </a:solidFill>
                          <a:latin typeface="Tahoma"/>
                        </a:rPr>
                        <a:t>M-03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414957"/>
                          </a:solidFill>
                          <a:latin typeface="Tahoma"/>
                        </a:rPr>
                        <a:t>Kanban / Sprint board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414957"/>
                          </a:solidFill>
                          <a:latin typeface="Tahoma"/>
                        </a:rPr>
                        <a:t>Dev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96660D"/>
                          </a:solidFill>
                          <a:latin typeface="Tahoma"/>
                        </a:rPr>
                        <a:t>กำลังทำ</a:t>
                      </a:r>
                    </a:p>
                  </a:txBody>
                  <a:tcPr marL="109728" marR="109728">
                    <a:solidFill>
                      <a:srgbClr val="FDF5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414957"/>
                          </a:solidFill>
                          <a:latin typeface="Tahoma"/>
                        </a:rPr>
                        <a:t>M-04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414957"/>
                          </a:solidFill>
                          <a:latin typeface="Tahoma"/>
                        </a:rPr>
                        <a:t>เชื่อมต่อ Git / CI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414957"/>
                          </a:solidFill>
                          <a:latin typeface="Tahoma"/>
                        </a:rPr>
                        <a:t>DevOps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A63A34"/>
                          </a:solidFill>
                          <a:latin typeface="Tahoma"/>
                        </a:rPr>
                        <a:t>ค้าง</a:t>
                      </a:r>
                    </a:p>
                  </a:txBody>
                  <a:tcPr marL="109728" marR="109728">
                    <a:solidFill>
                      <a:srgbClr val="FDED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2194560"/>
            <a:ext cx="926561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2A4C86"/>
                </a:solidFill>
                <a:latin typeface="Tahoma"/>
              </a:rPr>
              <a:t>“เอกสารที่อ่านง่าย คือเอกสารที่ถูกอ่านจริง”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206240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7D8492"/>
                </a:solidFill>
                <a:latin typeface="Tahoma"/>
              </a:rPr>
              <a:t>— ทีม Apps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