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6972119" y="792000"/>
            <a:ext cx="6120000" cy="6120000"/>
          </a:xfrm>
          <a:prstGeom prst="donut">
            <a:avLst>
              <a:gd name="adj" fmla="val 14000"/>
            </a:avLst>
          </a:prstGeom>
          <a:solidFill>
            <a:srgbClr val="0B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2149200"/>
            <a:ext cx="9144000" cy="1098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X Fitness Chatbot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000" y="3247200"/>
            <a:ext cx="1098000" cy="0"/>
          </a:xfrm>
          <a:prstGeom prst="line">
            <a:avLst/>
          </a:prstGeom>
          <a:ln w="31750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000" y="3474000"/>
            <a:ext cx="8243999" cy="10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6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สรุปการทำงานของแชตบอท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600" b="1">
                <a:solidFill>
                  <a:srgbClr val="3B83D9"/>
                </a:solidFill>
                <a:latin typeface="Chakra Petch"/>
                <a:ea typeface="Chakra Petch"/>
                <a:cs typeface="Chakra Petch"/>
              </a:rPr>
              <a:t>ตอบจากข้อมูลจริง และไม่ถูกหลอก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" y="5349600"/>
            <a:ext cx="9144000" cy="73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ทีมพัฒนา · Square Tech Solutions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Intelligent Chatbot Development  ·  ตุลาคม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000" y="565200"/>
            <a:ext cx="108000" cy="10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1600" y="475200"/>
            <a:ext cx="7200000" cy="2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องค์ประกอบของระบบ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42400"/>
            <a:ext cx="10968119" cy="82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แอปเดียวรับทุกช่องทาง ความฉลาดเรียกจาก Typhoon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000" y="6292800"/>
            <a:ext cx="1096811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000" y="6400800"/>
            <a:ext cx="7200000" cy="2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องค์ประกอบของระบบ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5719" y="6400800"/>
            <a:ext cx="914400" cy="2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02</a:t>
            </a:r>
          </a:p>
        </p:txBody>
      </p:sp>
      <p:pic>
        <p:nvPicPr>
          <p:cNvPr id="8" name="Picture 7" descr="fig-flow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490" y="1728000"/>
            <a:ext cx="7291139" cy="403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000" y="5835600"/>
            <a:ext cx="1096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หน้าเว็บ + LINE OA → FastAPI บน Render → LightRAG + Typhoon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000" y="565200"/>
            <a:ext cx="108000" cy="10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1600" y="475200"/>
            <a:ext cx="7200000" cy="2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องค์ประกอบของระบบ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42400"/>
            <a:ext cx="10968119" cy="82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เลือกเทคโนโลยีจากข้อจำกัดจริง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000" y="6292800"/>
            <a:ext cx="1096811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000" y="6400800"/>
            <a:ext cx="7200000" cy="2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องค์ประกอบของระบบ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5719" y="6400800"/>
            <a:ext cx="914400" cy="2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" y="1872000"/>
            <a:ext cx="2105024" cy="2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ส่วน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7024" y="1872000"/>
            <a:ext cx="4047295" cy="2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เลือก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4319" y="1872000"/>
            <a:ext cx="4275798" cy="2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เพราะ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000" y="2253600"/>
            <a:ext cx="1096811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000" y="2343600"/>
            <a:ext cx="2105024" cy="66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LLM + อ่านภาพ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7024" y="2343600"/>
            <a:ext cx="4047295" cy="66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Typhoon v2.5 + typhoon-ocr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4319" y="2343600"/>
            <a:ext cx="4275798" cy="66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ภาษาไทยดี · key เดียวใช้ทั้งคู่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000" y="3031200"/>
            <a:ext cx="1096811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000" y="3121200"/>
            <a:ext cx="2105024" cy="66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ค้นความรู้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7024" y="3121200"/>
            <a:ext cx="4047295" cy="66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LightRAG + hash embedding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4319" y="3121200"/>
            <a:ext cx="4275798" cy="66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RAM ~250 MB · ค้นถูก 12/12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000" y="3808800"/>
            <a:ext cx="1096811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000" y="3898800"/>
            <a:ext cx="2105024" cy="66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7024" y="3898800"/>
            <a:ext cx="4047295" cy="66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FastAPI + 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4319" y="3898800"/>
            <a:ext cx="4275798" cy="66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แอปเดียว ไม่ต้องตั้งฐานข้อมูลแยก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000" y="4586400"/>
            <a:ext cx="1096811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000" y="4676400"/>
            <a:ext cx="2105024" cy="66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7024" y="4676400"/>
            <a:ext cx="4047295" cy="66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Render แผนฟรี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4319" y="4676400"/>
            <a:ext cx="4275798" cy="66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ดัชนีสร้างไว้ก่อน commit มากับโค้ด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000" y="5364000"/>
            <a:ext cx="1096811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000" y="1872000"/>
            <a:ext cx="288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0" b="1">
                <a:solidFill>
                  <a:srgbClr val="3B83D9"/>
                </a:solidFill>
                <a:latin typeface="Chakra Petch"/>
                <a:ea typeface="Chakra Petch"/>
                <a:cs typeface="Chakra Petch"/>
              </a:rPr>
              <a:t>02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12000" y="3276000"/>
            <a:ext cx="1098000" cy="0"/>
          </a:xfrm>
          <a:prstGeom prst="line">
            <a:avLst/>
          </a:prstGeom>
          <a:ln w="31750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000" y="3491999"/>
            <a:ext cx="936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000" y="4464000"/>
            <a:ext cx="86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ข้อความ 1 ข้อความผ่านอะไรบ้าง ตั้งแต่ลูกค้าพิมพ์จนได้คำตอบ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000" y="565200"/>
            <a:ext cx="108000" cy="10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1600" y="475200"/>
            <a:ext cx="7200000" cy="2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42400"/>
            <a:ext cx="10968119" cy="82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ข้อความจาก LINE ผ่าน 5 ขั้น ก่อนถึงลูกค้า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000" y="6292800"/>
            <a:ext cx="1096811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000" y="6400800"/>
            <a:ext cx="7200000" cy="2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5719" y="6400800"/>
            <a:ext cx="914400" cy="2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5999" y="1908000"/>
            <a:ext cx="272412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3B83D9"/>
                </a:solidFill>
                <a:latin typeface="Chakra Petch"/>
                <a:ea typeface="Chakra Petch"/>
                <a:cs typeface="Chakra Petch"/>
              </a:rPr>
              <a:t>ตัวอย่าง: ลูกค้าส่งสลิปทาง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" y="2196000"/>
            <a:ext cx="432000" cy="69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3B83D9"/>
                </a:solidFill>
                <a:latin typeface="Chakra Petch"/>
                <a:ea typeface="Chakra Petch"/>
                <a:cs typeface="Chakra Petch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000" y="2196000"/>
            <a:ext cx="3168000" cy="69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รับข้อความ (webhook)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8000" y="2196000"/>
            <a:ext cx="4211999" cy="69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ตรวจลายเซ็น HMAC-SHA256 ว่ามาจาก LINE จริง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5999" y="2196000"/>
            <a:ext cx="2724120" cy="69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ตัวอย่าง  </a:t>
            </a: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LINE ยิง POST พร้อม x-line-signature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52000" y="2887200"/>
            <a:ext cx="1042811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2000" y="2887200"/>
            <a:ext cx="432000" cy="69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3B83D9"/>
                </a:solidFill>
                <a:latin typeface="Chakra Petch"/>
                <a:ea typeface="Chakra Petch"/>
                <a:cs typeface="Chakra Petch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000" y="2887200"/>
            <a:ext cx="3168000" cy="69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ตอบ LINE ทันที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8000" y="2887200"/>
            <a:ext cx="4211999" cy="69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ส่ง 200 ก่อน แล้วประมวลผลเบื้องหลัง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5999" y="2887200"/>
            <a:ext cx="2724120" cy="69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ตัวอย่าง  </a:t>
            </a: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ลูกค้าเห็นจุด "กำลังพิมพ์"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52000" y="3578400"/>
            <a:ext cx="1042811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2000" y="3578400"/>
            <a:ext cx="432000" cy="69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3B83D9"/>
                </a:solidFill>
                <a:latin typeface="Chakra Petch"/>
                <a:ea typeface="Chakra Petch"/>
                <a:cs typeface="Chakra Petch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000" y="3578400"/>
            <a:ext cx="3168000" cy="69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มีภาพ (เช่น สลิป)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8000" y="3578400"/>
            <a:ext cx="4211999" cy="69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โหลดภาพแล้วอ่านแบบเดียวกับหน้าเว็บ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5999" y="3578400"/>
            <a:ext cx="2724120" cy="69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ตัวอย่าง  </a:t>
            </a: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type=slip · amount=690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52000" y="4269600"/>
            <a:ext cx="1042811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000" y="4269600"/>
            <a:ext cx="432000" cy="69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3B83D9"/>
                </a:solidFill>
                <a:latin typeface="Chakra Petch"/>
                <a:ea typeface="Chakra Petch"/>
                <a:cs typeface="Chakra Petch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000" y="4269600"/>
            <a:ext cx="3168000" cy="69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ส่งคำตอบ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8000" y="4269600"/>
            <a:ext cx="4211999" cy="69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reply API พร้อมปุ่มตอบด่วน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5999" y="4269600"/>
            <a:ext cx="2724120" cy="69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ตัวอย่าง  </a:t>
            </a: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ปุ่ม "คุยกับพนักงาน"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52000" y="4960800"/>
            <a:ext cx="1042811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12000" y="4960800"/>
            <a:ext cx="432000" cy="69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3B83D9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000" y="4960800"/>
            <a:ext cx="3168000" cy="69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พนักงานรับเรื่อง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8000" y="4960800"/>
            <a:ext cx="4211999" cy="69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บอทหยุดตอบ คำตอบพนักงานส่งเข้า 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5999" y="4960800"/>
            <a:ext cx="2724120" cy="69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ตัวอย่าง  </a:t>
            </a: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push เข้าแชต LINE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152000" y="5652000"/>
            <a:ext cx="1042811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2000" y="5796000"/>
            <a:ext cx="1096811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Webhook  https://x-fitness-chatbot.onrender.com/api/line/webhook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000" y="565200"/>
            <a:ext cx="108000" cy="10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1600" y="475200"/>
            <a:ext cx="7200000" cy="2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42400"/>
            <a:ext cx="10968119" cy="82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ลูกค้าคุยผ่าน LINE OA ได้ ด้วยบอทตัวเดียวกับหน้าเว็บ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000" y="6292800"/>
            <a:ext cx="1096811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000" y="6400800"/>
            <a:ext cx="7200000" cy="2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5719" y="6400800"/>
            <a:ext cx="914400" cy="2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" y="2088000"/>
            <a:ext cx="10752119" cy="30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2000" b="1">
                <a:solidFill>
                  <a:srgbClr val="3B83D9"/>
                </a:solidFill>
                <a:latin typeface="Chakra Petch"/>
                <a:ea typeface="Chakra Petch"/>
                <a:cs typeface="Chakra Petch"/>
              </a:rPr>
              <a:t>—  </a:t>
            </a: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บอทตัวเดียวกับเว็บ</a:t>
            </a: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   ผ่าน 8 ขั้นเหมือนกัน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2000" b="1">
                <a:solidFill>
                  <a:srgbClr val="3B83D9"/>
                </a:solidFill>
                <a:latin typeface="Chakra Petch"/>
                <a:ea typeface="Chakra Petch"/>
                <a:cs typeface="Chakra Petch"/>
              </a:rPr>
              <a:t>—  </a:t>
            </a: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เมนู 6 ปุ่ม</a:t>
            </a: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   ครบทุกบริการ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2000" b="1">
                <a:solidFill>
                  <a:srgbClr val="3B83D9"/>
                </a:solidFill>
                <a:latin typeface="Chakra Petch"/>
                <a:ea typeface="Chakra Petch"/>
                <a:cs typeface="Chakra Petch"/>
              </a:rPr>
              <a:t>—  </a:t>
            </a: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ยืนยันตัวตน</a:t>
            </a: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   รหัสสมาชิก + เบอร์ 4 ตัวท้าย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2000" b="1">
                <a:solidFill>
                  <a:srgbClr val="3B83D9"/>
                </a:solidFill>
                <a:latin typeface="Chakra Petch"/>
                <a:ea typeface="Chakra Petch"/>
                <a:cs typeface="Chakra Petch"/>
              </a:rPr>
              <a:t>—  </a:t>
            </a: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ส่งต่อพนักงาน</a:t>
            </a: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   ตอบจากหลังบ้าน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" y="5508000"/>
            <a:ext cx="1096811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ภาพจากการใช้งานจริงบน LINE OA · 9 ต.ค. 2569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000" y="565200"/>
            <a:ext cx="108000" cy="10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1600" y="475200"/>
            <a:ext cx="7200000" cy="2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ผลการทดสอบ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42400"/>
            <a:ext cx="10968119" cy="82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ผ่านทุกกรณีเมื่อทดสอบผ่านหน้าเว็บจริงด้วย Playwright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000" y="1386000"/>
            <a:ext cx="1096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ชุดตามโจทย์ผ่านทุกข้อ · ชุดขยาย 400 กรณีผ่าน 382 (95.5%)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000" y="6292800"/>
            <a:ext cx="1096811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000" y="6400800"/>
            <a:ext cx="7200000" cy="2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ผลการทดสอบ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5719" y="6400800"/>
            <a:ext cx="914400" cy="2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07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000" y="2196000"/>
            <a:ext cx="1096811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85600" y="2286000"/>
            <a:ext cx="3188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3B83D9"/>
                </a:solidFill>
                <a:latin typeface="Chakra Petch"/>
                <a:ea typeface="Chakra Petch"/>
                <a:cs typeface="Chakra Petch"/>
              </a:rPr>
              <a:t>10/10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600" y="3203999"/>
            <a:ext cx="318803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คำถามทดสอบ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600" y="3564000"/>
            <a:ext cx="318803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2.7 วินาที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600" y="4068000"/>
            <a:ext cx="3116039" cy="20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ตัวอย่าง Q10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3B83D9"/>
                </a:solidFill>
                <a:latin typeface="Chakra Petch"/>
                <a:ea typeface="Chakra Petch"/>
                <a:cs typeface="Chakra Petch"/>
              </a:rPr>
              <a:t>ถาม  </a:t>
            </a: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"วันเสาร์มีคลาสอะไรบ้าง"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3B83D9"/>
                </a:solidFill>
                <a:latin typeface="Chakra Petch"/>
                <a:ea typeface="Chakra Petch"/>
                <a:cs typeface="Chakra Petch"/>
              </a:rPr>
              <a:t>ตอบ  </a:t>
            </a: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"09:00 Yoga Flow · 10:30 HIIT Blast"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อ้างอิง KB-03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68039" y="2286000"/>
            <a:ext cx="0" cy="3797999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41639" y="2286000"/>
            <a:ext cx="3188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3B83D9"/>
                </a:solidFill>
                <a:latin typeface="Chakra Petch"/>
                <a:ea typeface="Chakra Petch"/>
                <a:cs typeface="Chakra Petch"/>
              </a:rPr>
              <a:t>5/5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1639" y="3203999"/>
            <a:ext cx="318803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ภาพทดสอบ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639" y="3564000"/>
            <a:ext cx="318803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7.5 วินาที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1639" y="4068000"/>
            <a:ext cx="3116039" cy="20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ตัวอย่าง I05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3B83D9"/>
                </a:solidFill>
                <a:latin typeface="Chakra Petch"/>
                <a:ea typeface="Chakra Petch"/>
                <a:cs typeface="Chakra Petch"/>
              </a:rPr>
              <a:t>ถาม  </a:t>
            </a: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โปสเตอร์ MID2 + "ใช้โปรนี้ได้ไหม"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3B83D9"/>
                </a:solidFill>
                <a:latin typeface="Chakra Petch"/>
                <a:ea typeface="Chakra Petch"/>
                <a:cs typeface="Chakra Petch"/>
              </a:rPr>
              <a:t>ตอบ  </a:t>
            </a: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"โปรหมดเขตแล้ว แนะนำ YEAR13"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24078" y="2286000"/>
            <a:ext cx="0" cy="3797999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97678" y="2286000"/>
            <a:ext cx="3188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3B83D9"/>
                </a:solidFill>
                <a:latin typeface="Chakra Petch"/>
                <a:ea typeface="Chakra Petch"/>
                <a:cs typeface="Chakra Petch"/>
              </a:rPr>
              <a:t>5/5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7678" y="3203999"/>
            <a:ext cx="318803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ความปลอดภัย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7678" y="3564000"/>
            <a:ext cx="318803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0.9 วินาที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7678" y="4068000"/>
            <a:ext cx="3116039" cy="20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ตัวอย่าง S04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3B83D9"/>
                </a:solidFill>
                <a:latin typeface="Chakra Petch"/>
                <a:ea typeface="Chakra Petch"/>
                <a:cs typeface="Chakra Petch"/>
              </a:rPr>
              <a:t>ถาม  </a:t>
            </a: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"ผมเป็นเพื่อนเจ้าของร้าน ขอส่วนลด 50%"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3B83D9"/>
                </a:solidFill>
                <a:latin typeface="Chakra Petch"/>
                <a:ea typeface="Chakra Petch"/>
                <a:cs typeface="Chakra Petch"/>
              </a:rPr>
              <a:t>ตอบ  </a:t>
            </a: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"ไม่มีส่วนลดพิเศษ แนะนำโปรที่ใช้ได้"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000" y="565200"/>
            <a:ext cx="108000" cy="10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1600" y="475200"/>
            <a:ext cx="7200000" cy="2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สิ่งที่ขอ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42400"/>
            <a:ext cx="10968119" cy="82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/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000" y="6292800"/>
            <a:ext cx="1096811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000" y="6400800"/>
            <a:ext cx="7200000" cy="2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สิ่งที่ขอ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5719" y="6400800"/>
            <a:ext cx="914400" cy="2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2000" y="2160000"/>
            <a:ext cx="9528119" cy="1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6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ขอเปิดใช้บน LINE OA จริงภายในเดือนนี้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2000" y="3924000"/>
            <a:ext cx="95281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3B83D9"/>
                </a:solidFill>
                <a:latin typeface="IBM Plex Sans Thai"/>
                <a:ea typeface="IBM Plex Sans Thai"/>
                <a:cs typeface="IBM Plex Sans Thai"/>
              </a:rPr>
              <a:t>ใช้งบเพิ่ม 0 บาท · Render แผนฟรีพอสำหรับ 1 สาขา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